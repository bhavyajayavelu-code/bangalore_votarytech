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  <p:sldMasterId id="2147483652" r:id="rId5"/>
    <p:sldMasterId id="214748365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0DF7A2-7673-4C69-9AD8-18116AAD480A}">
  <a:tblStyle styleId="{C10DF7A2-7673-4C69-9AD8-18116AAD48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" name="Google Shape;5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9265918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b9265918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b926591859_0_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926591859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926591859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b926591859_0_22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926591859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926591859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b926591859_0_12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4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affe6864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affe6864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baffe6864d_0_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502400" y="320040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711200" y="7620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609600" y="1981201"/>
            <a:ext cx="10972800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2" type="body"/>
          </p:nvPr>
        </p:nvSpPr>
        <p:spPr>
          <a:xfrm>
            <a:off x="8737600" y="3048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11200" y="7620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609600" y="1981201"/>
            <a:ext cx="10972800" cy="4144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737600" y="3048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Parthi\Axis Works\Votary\ppt\logo_cover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3243262"/>
            <a:ext cx="11277600" cy="37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ublic\Documents\VotaryBranding\logo_new_caption.png" id="22" name="Google Shape;22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228600"/>
            <a:ext cx="12192000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Public\Documents\VotaryBranding\logo_new_caption.png" id="36" name="Google Shape;36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228600"/>
            <a:ext cx="12192000" cy="57943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idx="1" type="body"/>
          </p:nvPr>
        </p:nvSpPr>
        <p:spPr>
          <a:xfrm>
            <a:off x="6400812" y="3271737"/>
            <a:ext cx="579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</a:rPr>
              <a:t>Telemetry &amp; Real-Time Analytics</a:t>
            </a:r>
            <a:endParaRPr sz="1400">
              <a:solidFill>
                <a:srgbClr val="FFFFFF"/>
              </a:solidFill>
            </a:endParaRPr>
          </a:p>
          <a:p>
            <a:pPr indent="-228600" lvl="0" marL="22860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2" type="body"/>
          </p:nvPr>
        </p:nvSpPr>
        <p:spPr>
          <a:xfrm>
            <a:off x="6141975" y="304800"/>
            <a:ext cx="6253200" cy="39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/>
              <a:t>Telemetry &amp; Real-Time Analytics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716050" y="1113825"/>
            <a:ext cx="104859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Telemetry &amp; Real-Time Analytics</a:t>
            </a:r>
            <a:br>
              <a:rPr lang="en-US" sz="22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Telemetry is the automatic collection and transmission of data from a vehicle’s sensors to a central system or cloud, allowing real-time monitoring and alerts without someone being inside the vehicle.</a:t>
            </a:r>
            <a:endParaRPr sz="2200">
              <a:solidFill>
                <a:schemeClr val="dk1"/>
              </a:solidFill>
            </a:endParaRPr>
          </a:p>
        </p:txBody>
      </p:sp>
      <p:graphicFrame>
        <p:nvGraphicFramePr>
          <p:cNvPr id="61" name="Google Shape;61;p8"/>
          <p:cNvGraphicFramePr/>
          <p:nvPr/>
        </p:nvGraphicFramePr>
        <p:xfrm>
          <a:off x="1320700" y="3256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{C10DF7A2-7673-4C69-9AD8-18116AAD480A}</a:tableStyleId>
              </a:tblPr>
              <a:tblGrid>
                <a:gridCol w="3684075"/>
                <a:gridCol w="5234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With Cloud</a:t>
                      </a:r>
                      <a:endParaRPr sz="23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Without Cloud</a:t>
                      </a:r>
                      <a:endParaRPr sz="23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Data is monitored remotely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Data is seen only once inside the vehicle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Problems are detected early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Problems are detected late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Data is stored for future use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Data is not stored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Maintenance is planned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Maintenance happens after failure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Many vehicles can be monitored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Only one vehicle can be monitored</a:t>
                      </a:r>
                      <a:endParaRPr sz="19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  <p:sp>
        <p:nvSpPr>
          <p:cNvPr id="62" name="Google Shape;62;p8"/>
          <p:cNvSpPr txBox="1"/>
          <p:nvPr/>
        </p:nvSpPr>
        <p:spPr>
          <a:xfrm>
            <a:off x="731936" y="2752066"/>
            <a:ext cx="7192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why we need Telemetry?</a:t>
            </a:r>
            <a:endParaRPr b="1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/>
        </p:nvSpPr>
        <p:spPr>
          <a:xfrm>
            <a:off x="5267900" y="271175"/>
            <a:ext cx="625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Telemetry &amp; Real-Time Analytics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69" name="Google Shape;6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400" y="763775"/>
            <a:ext cx="8684137" cy="57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/>
        </p:nvSpPr>
        <p:spPr>
          <a:xfrm>
            <a:off x="620550" y="652367"/>
            <a:ext cx="10247100" cy="6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How Telemetry is Implemented in 4-Wheelers</a:t>
            </a:r>
            <a:endParaRPr b="1" sz="24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Sensors &amp; CAN Bus: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Vehicles have multiple sensors (engine temperature, battery, fuel, tire pressure, GPS).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Sensors communicate via the </a:t>
            </a:r>
            <a:r>
              <a:rPr b="1" lang="en-US" sz="1800">
                <a:solidFill>
                  <a:schemeClr val="dk1"/>
                </a:solidFill>
              </a:rPr>
              <a:t>CAN bus</a:t>
            </a:r>
            <a:r>
              <a:rPr lang="en-US" sz="1800">
                <a:solidFill>
                  <a:schemeClr val="dk1"/>
                </a:solidFill>
              </a:rPr>
              <a:t> (Controller Area Network), the automotive standard for in-vehicle communication.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Edge Processing (ECU / TCU):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A </a:t>
            </a:r>
            <a:r>
              <a:rPr b="1" lang="en-US" sz="1800">
                <a:solidFill>
                  <a:schemeClr val="dk1"/>
                </a:solidFill>
              </a:rPr>
              <a:t>Telematics Control Unit (TCU)</a:t>
            </a:r>
            <a:r>
              <a:rPr lang="en-US" sz="1800">
                <a:solidFill>
                  <a:schemeClr val="dk1"/>
                </a:solidFill>
              </a:rPr>
              <a:t> or ECU collects CAN signals.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Implements a </a:t>
            </a:r>
            <a:r>
              <a:rPr b="1" lang="en-US" sz="1800">
                <a:solidFill>
                  <a:schemeClr val="dk1"/>
                </a:solidFill>
              </a:rPr>
              <a:t>rule engine and state machine</a:t>
            </a:r>
            <a:r>
              <a:rPr lang="en-US" sz="1800">
                <a:solidFill>
                  <a:schemeClr val="dk1"/>
                </a:solidFill>
              </a:rPr>
              <a:t> to detect important events (e.g., battery overheating, low fuel, tire pressure drop).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Only </a:t>
            </a:r>
            <a:r>
              <a:rPr b="1" lang="en-US" sz="1800">
                <a:solidFill>
                  <a:schemeClr val="dk1"/>
                </a:solidFill>
              </a:rPr>
              <a:t>critical events</a:t>
            </a:r>
            <a:r>
              <a:rPr lang="en-US" sz="1800">
                <a:solidFill>
                  <a:schemeClr val="dk1"/>
                </a:solidFill>
              </a:rPr>
              <a:t> are transmitted to reduce bandwidth.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Secure Transmission: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Data is sent to cloud platforms using </a:t>
            </a:r>
            <a:r>
              <a:rPr b="1" lang="en-US" sz="1800">
                <a:solidFill>
                  <a:schemeClr val="dk1"/>
                </a:solidFill>
              </a:rPr>
              <a:t>MQTT over TLS</a:t>
            </a:r>
            <a:r>
              <a:rPr lang="en-US" sz="1800">
                <a:solidFill>
                  <a:schemeClr val="dk1"/>
                </a:solidFill>
              </a:rPr>
              <a:t> or </a:t>
            </a:r>
            <a:r>
              <a:rPr b="1" lang="en-US" sz="1800">
                <a:solidFill>
                  <a:schemeClr val="dk1"/>
                </a:solidFill>
              </a:rPr>
              <a:t>HTTPS</a:t>
            </a:r>
            <a:r>
              <a:rPr lang="en-US" sz="1800">
                <a:solidFill>
                  <a:schemeClr val="dk1"/>
                </a:solidFill>
              </a:rPr>
              <a:t>, ensuring encryption and authentication.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Cloud Analytics &amp; Dashboard: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Real-time analytics processes telemetry from multiple vehicles.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Fleet operators or OEMs get alerts, predictive maintenance notifications, and performance insights.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US" sz="1800">
                <a:solidFill>
                  <a:schemeClr val="dk1"/>
                </a:solidFill>
              </a:rPr>
              <a:t>In-vehicle HMI/cluster displays critical warnings to the driver.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5731800" y="223425"/>
            <a:ext cx="453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Telemetry &amp; Real-Time Analytics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/>
          <p:nvPr>
            <p:ph idx="2" type="body"/>
          </p:nvPr>
        </p:nvSpPr>
        <p:spPr>
          <a:xfrm>
            <a:off x="6137700" y="352550"/>
            <a:ext cx="56529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</a:rPr>
              <a:t>Telemetry &amp; Real-Time Analytics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766800" y="982275"/>
            <a:ext cx="10963200" cy="5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Components using in Telemetry POC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ESP32</a:t>
            </a:r>
            <a:r>
              <a:rPr lang="en-US" sz="1800">
                <a:solidFill>
                  <a:schemeClr val="dk1"/>
                </a:solidFill>
              </a:rPr>
              <a:t> – reads and processes sensor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Temperature Sensor</a:t>
            </a:r>
            <a:r>
              <a:rPr lang="en-US" sz="1800">
                <a:solidFill>
                  <a:schemeClr val="dk1"/>
                </a:solidFill>
              </a:rPr>
              <a:t> – measures temperature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Wi-Fi</a:t>
            </a:r>
            <a:r>
              <a:rPr lang="en-US" sz="1800">
                <a:solidFill>
                  <a:schemeClr val="dk1"/>
                </a:solidFill>
              </a:rPr>
              <a:t> – sends data to the cloud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Firebase</a:t>
            </a:r>
            <a:r>
              <a:rPr lang="en-US" sz="1800">
                <a:solidFill>
                  <a:schemeClr val="dk1"/>
                </a:solidFill>
              </a:rPr>
              <a:t> – stores and updates data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</a:rPr>
              <a:t>Qt Simulation</a:t>
            </a:r>
            <a:r>
              <a:rPr lang="en-US" sz="1800">
                <a:solidFill>
                  <a:schemeClr val="dk1"/>
                </a:solidFill>
              </a:rPr>
              <a:t> – displays temperature and alerts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Telemetry &amp; Real-Time Analytics – In OKT507-C           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temperature sensor is connected to an </a:t>
            </a:r>
            <a:r>
              <a:rPr b="1" lang="en-US" sz="1800">
                <a:solidFill>
                  <a:schemeClr val="dk1"/>
                </a:solidFill>
              </a:rPr>
              <a:t>ESP32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ESP32 reads the temperature continuously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</a:t>
            </a:r>
            <a:r>
              <a:rPr b="1" lang="en-US" sz="1800">
                <a:solidFill>
                  <a:schemeClr val="dk1"/>
                </a:solidFill>
              </a:rPr>
              <a:t>28</a:t>
            </a:r>
            <a:r>
              <a:rPr b="1" lang="en-US" sz="1800">
                <a:solidFill>
                  <a:schemeClr val="dk1"/>
                </a:solidFill>
              </a:rPr>
              <a:t>°C threshold</a:t>
            </a:r>
            <a:r>
              <a:rPr lang="en-US" sz="1800">
                <a:solidFill>
                  <a:schemeClr val="dk1"/>
                </a:solidFill>
              </a:rPr>
              <a:t> is defined in the ESP32 code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ESP32 sends temperature data to </a:t>
            </a:r>
            <a:r>
              <a:rPr b="1" lang="en-US" sz="1800">
                <a:solidFill>
                  <a:schemeClr val="dk1"/>
                </a:solidFill>
              </a:rPr>
              <a:t>Firebase</a:t>
            </a:r>
            <a:r>
              <a:rPr lang="en-US" sz="1800">
                <a:solidFill>
                  <a:schemeClr val="dk1"/>
                </a:solidFill>
              </a:rPr>
              <a:t> using Wi-Fi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Firebase updates the data in </a:t>
            </a:r>
            <a:r>
              <a:rPr b="1" lang="en-US" sz="1800">
                <a:solidFill>
                  <a:schemeClr val="dk1"/>
                </a:solidFill>
              </a:rPr>
              <a:t>real time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 </a:t>
            </a:r>
            <a:r>
              <a:rPr b="1" lang="en-US" sz="1800">
                <a:solidFill>
                  <a:schemeClr val="dk1"/>
                </a:solidFill>
              </a:rPr>
              <a:t>Qt application</a:t>
            </a:r>
            <a:r>
              <a:rPr lang="en-US" sz="1800">
                <a:solidFill>
                  <a:schemeClr val="dk1"/>
                </a:solidFill>
              </a:rPr>
              <a:t> displays temperature values and alert messages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4" name="Google Shape;84;p11"/>
          <p:cNvPicPr preferRelativeResize="0"/>
          <p:nvPr/>
        </p:nvPicPr>
        <p:blipFill rotWithShape="1">
          <a:blip r:embed="rId3">
            <a:alphaModFix/>
          </a:blip>
          <a:srcRect b="-16170" l="2280" r="-2280" t="16170"/>
          <a:stretch/>
        </p:blipFill>
        <p:spPr>
          <a:xfrm>
            <a:off x="6853200" y="1098188"/>
            <a:ext cx="4876800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 txBox="1"/>
          <p:nvPr>
            <p:ph idx="2" type="body"/>
          </p:nvPr>
        </p:nvSpPr>
        <p:spPr>
          <a:xfrm>
            <a:off x="5362300" y="304800"/>
            <a:ext cx="7032900" cy="4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FFFFFF"/>
                </a:solidFill>
              </a:rPr>
              <a:t>Telemetry &amp; Real-Time Analytics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1" name="Google Shape;91;p12"/>
          <p:cNvGraphicFramePr/>
          <p:nvPr/>
        </p:nvGraphicFramePr>
        <p:xfrm>
          <a:off x="1055938" y="135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{C10DF7A2-7673-4C69-9AD8-18116AAD480A}</a:tableStyleId>
              </a:tblPr>
              <a:tblGrid>
                <a:gridCol w="3466125"/>
                <a:gridCol w="3466125"/>
                <a:gridCol w="3466125"/>
              </a:tblGrid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Aspect</a:t>
                      </a:r>
                      <a:endParaRPr b="1" sz="2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Industrial-Standard Telemetry</a:t>
                      </a:r>
                      <a:endParaRPr b="1" sz="20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>
                          <a:solidFill>
                            <a:schemeClr val="dk1"/>
                          </a:solidFill>
                        </a:rPr>
                        <a:t>Current OKT507-C Setup (POC using Firebase)</a:t>
                      </a:r>
                      <a:endParaRPr b="1" sz="2000"/>
                    </a:p>
                  </a:txBody>
                  <a:tcPr marT="91425" marB="91425" marR="91425" marL="91425">
                    <a:noFill/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Communication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Sensors communicate via CAN bus (automotive standard)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Temperature sensor directly connected to ESP32 (GPIO)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Processing Unit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ECU / TCU (Linux-based) with rule engine &amp; state machine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ESP32 with simple threshold logic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Data Filtering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Edge filtering – only important events sent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Continuous data sent to Firebase and whenever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alerts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occurs it will be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stored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in database.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Cloud Platform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Industrial IoT Cloud (AWS IoT / Azure IoT / GCP IoT)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Firebase Realtime Database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Scalability &amp; Analytics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Fleet-level analytics, predictive maintenance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Single-device view, basic real-time alerts</a:t>
                      </a:r>
                      <a:endParaRPr sz="18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436562" y="1438275"/>
            <a:ext cx="10972800" cy="4144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6000" u="none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