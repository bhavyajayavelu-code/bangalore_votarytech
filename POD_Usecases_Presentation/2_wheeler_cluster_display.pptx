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5"/>
    <p:sldMasterId id="2147483664" r:id="rId6"/>
    <p:sldMasterId id="214748366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CBBA99-0126-4BDA-99D4-0B117D52569B}">
  <a:tblStyle styleId="{27CBBA99-0126-4BDA-99D4-0B117D52569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b7094acf4_1_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bb7094acf4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b3a38df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ab3a38dfd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b5d83477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bb5d834779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b5d8347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bb5d834779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b5d83477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bb5d834779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b5d83477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bb5d834779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7094acf4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b7094acf4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b5d83477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bb5d834779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b7094acf4_1_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bb7094acf4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876800" y="24003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33400" y="5715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57200" y="1485901"/>
            <a:ext cx="82296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6553200" y="228600"/>
            <a:ext cx="274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876800" y="24003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533400" y="5715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485901"/>
            <a:ext cx="8229600" cy="31087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553200" y="228600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arthi\Axis Works\Votary\ppt\logo_cover.png" id="63" name="Google Shape;63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2900" y="2432447"/>
            <a:ext cx="8458200" cy="27860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369219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ublic\Documents\VotaryBranding\logo_new_caption.png" id="75" name="Google Shape;75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71450"/>
            <a:ext cx="9144000" cy="43457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VrA-B-1KeDSqJFCgPtUq4fCYQHMtJuY6/view" TargetMode="Externa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8.jpg"/><Relationship Id="rId6" Type="http://schemas.openxmlformats.org/officeDocument/2006/relationships/image" Target="../media/image7.jpg"/><Relationship Id="rId7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5355554" y="2453800"/>
            <a:ext cx="257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</a:rPr>
              <a:t>2 Wheeler Cluster Display</a:t>
            </a:r>
            <a:endParaRPr sz="1100">
              <a:solidFill>
                <a:srgbClr val="FFFFFF"/>
              </a:solidFill>
            </a:endParaRPr>
          </a:p>
          <a:p>
            <a:pPr indent="-177800" lvl="0" marL="17780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arthi\Axis Works\Votary\ppt\logo_cover.png" id="97" name="Google Shape;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1820"/>
            <a:ext cx="8422675" cy="3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 txBox="1"/>
          <p:nvPr/>
        </p:nvSpPr>
        <p:spPr>
          <a:xfrm>
            <a:off x="455450" y="695225"/>
            <a:ext cx="83856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Project Objective &amp; System Overview</a:t>
            </a:r>
            <a:endParaRPr b="1" sz="12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100">
                <a:solidFill>
                  <a:schemeClr val="dk1"/>
                </a:solidFill>
              </a:rPr>
              <a:t>Modern vehicles are rapidly shifting from traditional analog meters to fully digital instrument clusters.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Digital displays provide </a:t>
            </a:r>
            <a:r>
              <a:rPr b="1" lang="en" sz="1100">
                <a:solidFill>
                  <a:schemeClr val="dk1"/>
                </a:solidFill>
              </a:rPr>
              <a:t>better visibility, real-time updates, and enhanced user interaction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100">
                <a:solidFill>
                  <a:schemeClr val="dk1"/>
                </a:solidFill>
              </a:rPr>
              <a:t>This project aims to develop a </a:t>
            </a:r>
            <a:r>
              <a:rPr b="1" lang="en" sz="1100">
                <a:solidFill>
                  <a:schemeClr val="dk1"/>
                </a:solidFill>
              </a:rPr>
              <a:t>digital instrument cluster</a:t>
            </a:r>
            <a:r>
              <a:rPr lang="en" sz="1100">
                <a:solidFill>
                  <a:schemeClr val="dk1"/>
                </a:solidFill>
              </a:rPr>
              <a:t> using </a:t>
            </a:r>
            <a:r>
              <a:rPr b="1" lang="en" sz="1100">
                <a:solidFill>
                  <a:schemeClr val="dk1"/>
                </a:solidFill>
              </a:rPr>
              <a:t>Qt/QML</a:t>
            </a:r>
            <a:r>
              <a:rPr lang="en" sz="1100">
                <a:solidFill>
                  <a:schemeClr val="dk1"/>
                </a:solidFill>
              </a:rPr>
              <a:t> on an </a:t>
            </a:r>
            <a:r>
              <a:rPr b="1" lang="en" sz="1100">
                <a:solidFill>
                  <a:schemeClr val="dk1"/>
                </a:solidFill>
              </a:rPr>
              <a:t>embedded platform</a:t>
            </a:r>
            <a:r>
              <a:rPr lang="en" sz="1100">
                <a:solidFill>
                  <a:schemeClr val="dk1"/>
                </a:solidFill>
              </a:rPr>
              <a:t>, capable of displaying </a:t>
            </a:r>
            <a:r>
              <a:rPr b="1" lang="en" sz="1100">
                <a:solidFill>
                  <a:schemeClr val="dk1"/>
                </a:solidFill>
              </a:rPr>
              <a:t>real-time vehicle parameters</a:t>
            </a:r>
            <a:r>
              <a:rPr lang="en" sz="1100">
                <a:solidFill>
                  <a:schemeClr val="dk1"/>
                </a:solidFill>
              </a:rPr>
              <a:t> received wirelessly from an </a:t>
            </a:r>
            <a:r>
              <a:rPr b="1" lang="en" sz="1100">
                <a:solidFill>
                  <a:schemeClr val="dk1"/>
                </a:solidFill>
              </a:rPr>
              <a:t>ESP32 sensor module</a:t>
            </a:r>
            <a:r>
              <a:rPr lang="en" sz="1100">
                <a:solidFill>
                  <a:schemeClr val="dk1"/>
                </a:solidFill>
              </a:rPr>
              <a:t> through </a:t>
            </a:r>
            <a:r>
              <a:rPr b="1" lang="en" sz="1100">
                <a:solidFill>
                  <a:schemeClr val="dk1"/>
                </a:solidFill>
              </a:rPr>
              <a:t>Wi-Fi and Firebase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Implemented Features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Displays </a:t>
            </a:r>
            <a:r>
              <a:rPr b="1" lang="en" sz="1100">
                <a:solidFill>
                  <a:schemeClr val="dk1"/>
                </a:solidFill>
              </a:rPr>
              <a:t>real-time speed and temperature</a:t>
            </a:r>
            <a:r>
              <a:rPr lang="en" sz="1100">
                <a:solidFill>
                  <a:schemeClr val="dk1"/>
                </a:solidFill>
              </a:rPr>
              <a:t> fetched from ESP32 via </a:t>
            </a:r>
            <a:r>
              <a:rPr b="1" lang="en" sz="1100">
                <a:solidFill>
                  <a:schemeClr val="dk1"/>
                </a:solidFill>
              </a:rPr>
              <a:t>Wi-Fi and Firebase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Shows </a:t>
            </a:r>
            <a:r>
              <a:rPr b="1" lang="en" sz="1100">
                <a:solidFill>
                  <a:schemeClr val="dk1"/>
                </a:solidFill>
              </a:rPr>
              <a:t>current time and date</a:t>
            </a:r>
            <a:r>
              <a:rPr lang="en" sz="1100">
                <a:solidFill>
                  <a:schemeClr val="dk1"/>
                </a:solidFill>
              </a:rPr>
              <a:t> using the OKT507-C RTC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Provides a </a:t>
            </a:r>
            <a:r>
              <a:rPr b="1" lang="en" sz="1100">
                <a:solidFill>
                  <a:schemeClr val="dk1"/>
                </a:solidFill>
              </a:rPr>
              <a:t>graphical battery level indicator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Includes </a:t>
            </a:r>
            <a:r>
              <a:rPr b="1" lang="en" sz="1100">
                <a:solidFill>
                  <a:schemeClr val="dk1"/>
                </a:solidFill>
              </a:rPr>
              <a:t>Anti-Theft Lock</a:t>
            </a:r>
            <a:r>
              <a:rPr lang="en" sz="1100">
                <a:solidFill>
                  <a:schemeClr val="dk1"/>
                </a:solidFill>
              </a:rPr>
              <a:t> for vehicle security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Detects </a:t>
            </a:r>
            <a:r>
              <a:rPr b="1" lang="en" sz="1100">
                <a:solidFill>
                  <a:schemeClr val="dk1"/>
                </a:solidFill>
              </a:rPr>
              <a:t>vehicle tilt/fall</a:t>
            </a:r>
            <a:r>
              <a:rPr lang="en" sz="1100">
                <a:solidFill>
                  <a:schemeClr val="dk1"/>
                </a:solidFill>
              </a:rPr>
              <a:t> and triggers an alarm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Implements a </a:t>
            </a:r>
            <a:r>
              <a:rPr b="1" lang="en" sz="1100">
                <a:solidFill>
                  <a:schemeClr val="dk1"/>
                </a:solidFill>
              </a:rPr>
              <a:t>Wi-Fi configuration GUI</a:t>
            </a:r>
            <a:r>
              <a:rPr lang="en" sz="1100">
                <a:solidFill>
                  <a:schemeClr val="dk1"/>
                </a:solidFill>
              </a:rPr>
              <a:t> for hotspot connection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System Architecture (Working Principle)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ESP32</a:t>
            </a:r>
            <a:r>
              <a:rPr lang="en" sz="1100">
                <a:solidFill>
                  <a:schemeClr val="dk1"/>
                </a:solidFill>
              </a:rPr>
              <a:t> acts as the sensor data acquisition unit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Sensor data is transmitted wirelessly using </a:t>
            </a:r>
            <a:r>
              <a:rPr b="1" lang="en" sz="1100">
                <a:solidFill>
                  <a:schemeClr val="dk1"/>
                </a:solidFill>
              </a:rPr>
              <a:t>Wi-Fi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Firebase</a:t>
            </a:r>
            <a:r>
              <a:rPr lang="en" sz="1100">
                <a:solidFill>
                  <a:schemeClr val="dk1"/>
                </a:solidFill>
              </a:rPr>
              <a:t> is used as a cloud intermediary for data transfer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C++ backend</a:t>
            </a:r>
            <a:r>
              <a:rPr lang="en" sz="1100">
                <a:solidFill>
                  <a:schemeClr val="dk1"/>
                </a:solidFill>
              </a:rPr>
              <a:t> on OKT507-C handles data fetching and processing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QML UI layer</a:t>
            </a:r>
            <a:r>
              <a:rPr lang="en" sz="1100">
                <a:solidFill>
                  <a:schemeClr val="dk1"/>
                </a:solidFill>
              </a:rPr>
              <a:t> displays the received data in real time on the screen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5633550" y="1358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2 Wheeler Cluster Display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arthi\Axis Works\Votary\ppt\logo_cover.png" id="104" name="Google Shape;1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1820"/>
            <a:ext cx="8422675" cy="3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455450" y="695225"/>
            <a:ext cx="8385600" cy="3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Hardware Components Used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ESP32 Microcontroller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Used as the microcontroller to sense the data from the sensors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</a:t>
            </a:r>
            <a:r>
              <a:rPr lang="en" sz="1100">
                <a:solidFill>
                  <a:schemeClr val="dk1"/>
                </a:solidFill>
              </a:rPr>
              <a:t>ollects real-time speed and temperature values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Provides built-in Wi-Fi connectivity for data transmission to firebase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OKT507-C Embedded Board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Acts as the processing and display unit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Runs </a:t>
            </a:r>
            <a:r>
              <a:rPr b="1" lang="en" sz="1100">
                <a:solidFill>
                  <a:schemeClr val="dk1"/>
                </a:solidFill>
              </a:rPr>
              <a:t>Embedded Linux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Executes the Qt/QML digital instrument cluster 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Display Panel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Visualizes speed, temperature, time/date, battery level, settings features and Anti-Theft.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Power Supply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Provides regulated power to ESP32 and OKT507-C board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5633550" y="1358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2 Wheeler Cluster Display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arthi\Axis Works\Votary\ppt\logo_cover.png" id="111" name="Google Shape;1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1820"/>
            <a:ext cx="8422675" cy="3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/>
        </p:nvSpPr>
        <p:spPr>
          <a:xfrm>
            <a:off x="455450" y="695225"/>
            <a:ext cx="8385600" cy="4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Tools, Kits &amp; Languages Used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Development Environment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Ubuntu Linux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Qt Creator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Arduino IDE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Embedded Linux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Custom Linux image on OKT507-C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Hardware Platform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OKT507-C Single Board Computer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External ESP32 sensor module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Programming Languages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C++</a:t>
            </a:r>
            <a:r>
              <a:rPr lang="en" sz="1100">
                <a:solidFill>
                  <a:schemeClr val="dk1"/>
                </a:solidFill>
              </a:rPr>
              <a:t> – backend logic and data handling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QML</a:t>
            </a:r>
            <a:r>
              <a:rPr lang="en" sz="1100">
                <a:solidFill>
                  <a:schemeClr val="dk1"/>
                </a:solidFill>
              </a:rPr>
              <a:t> – real-time UI and animations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Python Script </a:t>
            </a:r>
            <a:r>
              <a:rPr lang="en" sz="1100">
                <a:solidFill>
                  <a:schemeClr val="dk1"/>
                </a:solidFill>
              </a:rPr>
              <a:t>– To bypass firebase data to PC and to OKT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5633550" y="1358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2 Wheeler Cluster Display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arthi\Axis Works\Votary\ppt\logo_cover.png" id="118" name="Google Shape;1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1820"/>
            <a:ext cx="8422675" cy="3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/>
        </p:nvSpPr>
        <p:spPr>
          <a:xfrm>
            <a:off x="455450" y="695225"/>
            <a:ext cx="838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5633550" y="1358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2 Wheeler Cluster Display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21" name="Google Shape;121;p23" title="ChatGPT Image Jan 23, 2026, 01_06_2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325" y="695225"/>
            <a:ext cx="8051224" cy="42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1000064968.jpeg"/>
          <p:cNvPicPr preferRelativeResize="0"/>
          <p:nvPr/>
        </p:nvPicPr>
        <p:blipFill rotWithShape="1">
          <a:blip r:embed="rId5">
            <a:alphaModFix/>
          </a:blip>
          <a:srcRect b="10899" l="31331" r="22367" t="24186"/>
          <a:stretch/>
        </p:blipFill>
        <p:spPr>
          <a:xfrm rot="-5400000">
            <a:off x="6869164" y="1457938"/>
            <a:ext cx="1233699" cy="229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48250" y="600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WorkFlow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arthi\Axis Works\Votary\ppt\logo_cover.png" id="128" name="Google Shape;1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1820"/>
            <a:ext cx="8422675" cy="3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/>
          <p:nvPr/>
        </p:nvSpPr>
        <p:spPr>
          <a:xfrm>
            <a:off x="455450" y="695225"/>
            <a:ext cx="838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5633550" y="1358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2 Wheeler Cluster Display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31" name="Google Shape;131;p24" title="video_20260123_110847_edit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0925" y="902425"/>
            <a:ext cx="6622150" cy="399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idx="4294967295" type="body"/>
          </p:nvPr>
        </p:nvSpPr>
        <p:spPr>
          <a:xfrm>
            <a:off x="124725" y="750200"/>
            <a:ext cx="8707500" cy="4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C:\Parthi\Axis Works\Votary\ppt\logo_cover.png" id="137" name="Google Shape;1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60945"/>
            <a:ext cx="8422675" cy="3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 rot="3057">
            <a:off x="5917374" y="161500"/>
            <a:ext cx="2699101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2 Wheeler Cluster Display</a:t>
            </a:r>
            <a:endParaRPr b="1" sz="1500">
              <a:solidFill>
                <a:schemeClr val="lt1"/>
              </a:solidFill>
            </a:endParaRPr>
          </a:p>
        </p:txBody>
      </p:sp>
      <p:pic>
        <p:nvPicPr>
          <p:cNvPr id="139" name="Google Shape;139;p25" title="1000061214.jpeg"/>
          <p:cNvPicPr preferRelativeResize="0"/>
          <p:nvPr/>
        </p:nvPicPr>
        <p:blipFill rotWithShape="1">
          <a:blip r:embed="rId4">
            <a:alphaModFix/>
          </a:blip>
          <a:srcRect b="15318" l="4119" r="4946" t="0"/>
          <a:stretch/>
        </p:blipFill>
        <p:spPr>
          <a:xfrm>
            <a:off x="2873175" y="922950"/>
            <a:ext cx="2599252" cy="189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 title="1000061215.jpeg"/>
          <p:cNvPicPr preferRelativeResize="0"/>
          <p:nvPr/>
        </p:nvPicPr>
        <p:blipFill rotWithShape="1">
          <a:blip r:embed="rId5">
            <a:alphaModFix/>
          </a:blip>
          <a:srcRect b="0" l="5006" r="0" t="0"/>
          <a:stretch/>
        </p:blipFill>
        <p:spPr>
          <a:xfrm>
            <a:off x="224550" y="899400"/>
            <a:ext cx="2557500" cy="193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 title="1000061212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850" y="922950"/>
            <a:ext cx="2599252" cy="189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 title="1000061213.jpeg"/>
          <p:cNvPicPr preferRelativeResize="0"/>
          <p:nvPr/>
        </p:nvPicPr>
        <p:blipFill rotWithShape="1">
          <a:blip r:embed="rId7">
            <a:alphaModFix/>
          </a:blip>
          <a:srcRect b="17467" l="-2127" r="6296" t="5985"/>
          <a:stretch/>
        </p:blipFill>
        <p:spPr>
          <a:xfrm>
            <a:off x="224550" y="2980350"/>
            <a:ext cx="2837076" cy="180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arthi\Axis Works\Votary\ppt\logo_cover.png" id="147" name="Google Shape;1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1820"/>
            <a:ext cx="8422675" cy="3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>
            <a:off x="5633550" y="1358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2 Wheeler Cluster Display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49" name="Google Shape;149;p26"/>
          <p:cNvGraphicFramePr/>
          <p:nvPr/>
        </p:nvGraphicFramePr>
        <p:xfrm>
          <a:off x="541863" y="102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{27CBBA99-0126-4BDA-99D4-0B117D52569B}</a:tableStyleId>
              </a:tblPr>
              <a:tblGrid>
                <a:gridCol w="1426500"/>
                <a:gridCol w="3516075"/>
                <a:gridCol w="3117675"/>
              </a:tblGrid>
              <a:tr h="20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Aspect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Industry-Standard (2-Wheeler Cluster)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Implemented Solution (OKT507-C)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7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Primary Controller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Automotive-Grade SoC (e.g., NXP i.MX, Renesas) or MCU (STM32/Infineon)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Industrial-Grade SBC (Forlinx OKT507-C)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Operating System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Real-Time OS (QNX, FreeRTOS) or Android Automotive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Embedded Linux (Standard Distribution)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7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Data Communication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CAN Bus / LIN Bus (Wired, Deterministic, Low Latency)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Wi-Fi + HTTP Bridge (Wireless, Cloud-Dependent)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7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Sensor Interface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Hardwired to ECU/BCM (Body Control Module)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Wireless IoT Node (ESP32) via Firebase Cloud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0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Graphics Engine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Qt Automotive Suite / Kanzi UI / Altia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Qt 5.12 / QML (Community Edition)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7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Data Gateway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Central Gateway ECU (Secure Onboard Comms)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Python Script Bridge (PC-based Data Forwarding)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Theft Protection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Hardware Immobilizer (Key Transponder / ECU Lock)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Software Anti-Theft (PIN/Pattern Lock Screen)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Safety Features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ABS / TCS / Side-Stand Cutoff (Hardwired Signals)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Tilt/Fall Detection (Accelerometer via ESP32)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Boot Time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Instant (&lt; 2 seconds required by regulation)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Linux Boot Sequence (~15â€“30 seconds)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7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Power Management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Automotive PMIC (Handles 12V cranks/surges)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Regulated 5V DC Supply (Stable Bench Power)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Connectivity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Bluetooth (Phone Pairing) / LTE (Telematics)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Wi-Fi (Hotspot connection for Data Sync)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0" name="Google Shape;150;p26"/>
          <p:cNvSpPr txBox="1"/>
          <p:nvPr/>
        </p:nvSpPr>
        <p:spPr>
          <a:xfrm>
            <a:off x="342900" y="566963"/>
            <a:ext cx="660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Automotive Industry Standards vs. OKT507-C Implementation</a:t>
            </a:r>
            <a:endParaRPr b="1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27421" y="1078706"/>
            <a:ext cx="8229600" cy="31087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1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1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1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b="0" i="0" lang="en" sz="4500" u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5929525" y="1973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2 Wheeler Cluster Display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